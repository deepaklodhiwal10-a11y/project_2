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70" r:id="rId12"/>
    <p:sldId id="268" r:id="rId13"/>
    <p:sldId id="269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tikinjal6@outlook.com" userId="70a7949ce4876b9e" providerId="LiveId" clId="{7A63F2E1-2D5A-4640-A471-4B3F1A6ACA07}"/>
    <pc:docChg chg="modSld">
      <pc:chgData name="aartikinjal6@outlook.com" userId="70a7949ce4876b9e" providerId="LiveId" clId="{7A63F2E1-2D5A-4640-A471-4B3F1A6ACA07}" dt="2026-06-21T19:51:46.367" v="23" actId="114"/>
      <pc:docMkLst>
        <pc:docMk/>
      </pc:docMkLst>
      <pc:sldChg chg="modSp mod">
        <pc:chgData name="aartikinjal6@outlook.com" userId="70a7949ce4876b9e" providerId="LiveId" clId="{7A63F2E1-2D5A-4640-A471-4B3F1A6ACA07}" dt="2026-06-21T19:51:46.367" v="23" actId="114"/>
        <pc:sldMkLst>
          <pc:docMk/>
          <pc:sldMk cId="1175586089" sldId="256"/>
        </pc:sldMkLst>
        <pc:spChg chg="mod">
          <ac:chgData name="aartikinjal6@outlook.com" userId="70a7949ce4876b9e" providerId="LiveId" clId="{7A63F2E1-2D5A-4640-A471-4B3F1A6ACA07}" dt="2026-06-21T19:51:46.367" v="23" actId="114"/>
          <ac:spMkLst>
            <pc:docMk/>
            <pc:sldMk cId="1175586089" sldId="256"/>
            <ac:spMk id="2" creationId="{919ADBC3-EEC8-E06F-097A-0E5FEB58407A}"/>
          </ac:spMkLst>
        </pc:spChg>
      </pc:sldChg>
      <pc:sldChg chg="modSp mod">
        <pc:chgData name="aartikinjal6@outlook.com" userId="70a7949ce4876b9e" providerId="LiveId" clId="{7A63F2E1-2D5A-4640-A471-4B3F1A6ACA07}" dt="2026-06-21T19:49:26.052" v="2" actId="403"/>
        <pc:sldMkLst>
          <pc:docMk/>
          <pc:sldMk cId="3007080520" sldId="257"/>
        </pc:sldMkLst>
        <pc:spChg chg="mod">
          <ac:chgData name="aartikinjal6@outlook.com" userId="70a7949ce4876b9e" providerId="LiveId" clId="{7A63F2E1-2D5A-4640-A471-4B3F1A6ACA07}" dt="2026-06-21T19:49:26.052" v="2" actId="403"/>
          <ac:spMkLst>
            <pc:docMk/>
            <pc:sldMk cId="3007080520" sldId="257"/>
            <ac:spMk id="2" creationId="{C224303C-75E4-27F9-CF4F-8CCD574ECAD5}"/>
          </ac:spMkLst>
        </pc:spChg>
      </pc:sldChg>
      <pc:sldChg chg="modSp mod">
        <pc:chgData name="aartikinjal6@outlook.com" userId="70a7949ce4876b9e" providerId="LiveId" clId="{7A63F2E1-2D5A-4640-A471-4B3F1A6ACA07}" dt="2026-06-21T19:49:41.976" v="4" actId="403"/>
        <pc:sldMkLst>
          <pc:docMk/>
          <pc:sldMk cId="3073712764" sldId="264"/>
        </pc:sldMkLst>
        <pc:spChg chg="mod">
          <ac:chgData name="aartikinjal6@outlook.com" userId="70a7949ce4876b9e" providerId="LiveId" clId="{7A63F2E1-2D5A-4640-A471-4B3F1A6ACA07}" dt="2026-06-21T19:49:41.976" v="4" actId="403"/>
          <ac:spMkLst>
            <pc:docMk/>
            <pc:sldMk cId="3073712764" sldId="264"/>
            <ac:spMk id="2" creationId="{FD30F285-1AA9-91D6-859B-785A93021FA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6/21/2026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ADBC3-EEC8-E06F-097A-0E5FEB5840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000" i="1" spc="-150" dirty="0">
                <a:solidFill>
                  <a:srgbClr val="C00000"/>
                </a:solidFill>
              </a:rPr>
              <a:t>SMARTCALC PRO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793A7-100F-BC70-DD67-A9DD2F419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0865" y="5093110"/>
            <a:ext cx="5571136" cy="1764889"/>
          </a:xfrm>
        </p:spPr>
        <p:txBody>
          <a:bodyPr>
            <a:normAutofit/>
          </a:bodyPr>
          <a:lstStyle/>
          <a:p>
            <a:r>
              <a:rPr lang="en-IN" b="1" dirty="0"/>
              <a:t>Multi-Functional Advanced Calculator System</a:t>
            </a:r>
          </a:p>
          <a:p>
            <a:r>
              <a:rPr lang="en-IN" b="1" dirty="0"/>
              <a:t>Developed Using Python &amp; </a:t>
            </a:r>
            <a:r>
              <a:rPr lang="en-IN" b="1" dirty="0" err="1"/>
              <a:t>Tkinter</a:t>
            </a:r>
            <a:endParaRPr lang="en-IN" b="1" dirty="0"/>
          </a:p>
          <a:p>
            <a:r>
              <a:rPr lang="en-IN" b="1" dirty="0"/>
              <a:t>Project By: Deepak Rajput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586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303C-75E4-27F9-CF4F-8CCD574E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80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0089-FAF5-072F-F2F6-04182323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2222287"/>
            <a:ext cx="11117647" cy="44046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/>
              <a:t>SmartCalc</a:t>
            </a:r>
            <a:r>
              <a:rPr lang="en-IN" dirty="0"/>
              <a:t> Pro is an advanced desktop calculator application developed using Python and </a:t>
            </a:r>
            <a:r>
              <a:rPr lang="en-IN" dirty="0" err="1"/>
              <a:t>Tkinter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Unlike traditional calculators, </a:t>
            </a:r>
            <a:r>
              <a:rPr lang="en-IN" dirty="0" err="1"/>
              <a:t>SmartCalc</a:t>
            </a:r>
            <a:r>
              <a:rPr lang="en-IN" dirty="0"/>
              <a:t> Pro combines multiple calculation systems into one unified platform.</a:t>
            </a:r>
          </a:p>
          <a:p>
            <a:r>
              <a:rPr lang="en-IN" dirty="0"/>
              <a:t>The software provides:</a:t>
            </a:r>
          </a:p>
          <a:p>
            <a:r>
              <a:rPr lang="en-IN" dirty="0"/>
              <a:t>Standard Calculator </a:t>
            </a:r>
          </a:p>
          <a:p>
            <a:r>
              <a:rPr lang="en-IN" dirty="0"/>
              <a:t>Scientific Calculator </a:t>
            </a:r>
          </a:p>
          <a:p>
            <a:r>
              <a:rPr lang="en-IN" dirty="0"/>
              <a:t>Unit Converter </a:t>
            </a:r>
          </a:p>
          <a:p>
            <a:r>
              <a:rPr lang="en-IN" dirty="0"/>
              <a:t>Statistics Module </a:t>
            </a:r>
          </a:p>
          <a:p>
            <a:r>
              <a:rPr lang="en-IN" dirty="0"/>
              <a:t>Programmer Calculator </a:t>
            </a:r>
          </a:p>
          <a:p>
            <a:r>
              <a:rPr lang="en-IN" dirty="0"/>
              <a:t>Finance Calculator </a:t>
            </a:r>
          </a:p>
          <a:p>
            <a:r>
              <a:rPr lang="en-IN" dirty="0"/>
              <a:t>Equation Solver </a:t>
            </a:r>
          </a:p>
          <a:p>
            <a:pPr marL="0" indent="0">
              <a:buNone/>
            </a:pPr>
            <a:r>
              <a:rPr lang="en-IN" dirty="0"/>
              <a:t>The project demonstrates modern GUI development, mathematical computation, and software engineering principles.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7080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C9D2-6B62-C633-D2D5-AA018729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0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1A901-1F7B-3076-1285-1A46D636A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2222287"/>
            <a:ext cx="11147144" cy="4512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highlight>
                  <a:srgbClr val="FF0000"/>
                </a:highlight>
              </a:rPr>
              <a:t>Existing Problems</a:t>
            </a:r>
          </a:p>
          <a:p>
            <a:pPr marL="0" indent="0">
              <a:buNone/>
            </a:pPr>
            <a:r>
              <a:rPr lang="en-IN" dirty="0"/>
              <a:t>Most traditional calculators suffer from:</a:t>
            </a:r>
          </a:p>
          <a:p>
            <a:pPr marL="0" indent="0">
              <a:buNone/>
            </a:pPr>
            <a:r>
              <a:rPr lang="en-IN" dirty="0"/>
              <a:t>❌ Limited functionality</a:t>
            </a:r>
          </a:p>
          <a:p>
            <a:pPr marL="0" indent="0">
              <a:buNone/>
            </a:pPr>
            <a:r>
              <a:rPr lang="en-IN" dirty="0"/>
              <a:t>❌ No statistical operations</a:t>
            </a:r>
          </a:p>
          <a:p>
            <a:pPr marL="0" indent="0">
              <a:buNone/>
            </a:pPr>
            <a:r>
              <a:rPr lang="en-IN" dirty="0"/>
              <a:t>❌ No finance calculations</a:t>
            </a:r>
          </a:p>
          <a:p>
            <a:pPr marL="0" indent="0">
              <a:buNone/>
            </a:pPr>
            <a:r>
              <a:rPr lang="en-IN" dirty="0"/>
              <a:t>❌ No programmer support</a:t>
            </a:r>
          </a:p>
          <a:p>
            <a:pPr marL="0" indent="0">
              <a:buNone/>
            </a:pPr>
            <a:r>
              <a:rPr lang="en-IN" dirty="0"/>
              <a:t>❌ Poor user interface</a:t>
            </a:r>
          </a:p>
          <a:p>
            <a:pPr marL="0" indent="0">
              <a:buNone/>
            </a:pPr>
            <a:r>
              <a:rPr lang="en-IN" dirty="0"/>
              <a:t>❌ Multiple applications required for different calculations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008000"/>
                </a:highlight>
              </a:rPr>
              <a:t>Result</a:t>
            </a:r>
          </a:p>
          <a:p>
            <a:pPr marL="0" indent="0">
              <a:buNone/>
            </a:pPr>
            <a:r>
              <a:rPr lang="en-IN" dirty="0"/>
              <a:t>Users waste time switching between different software.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63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07BB6-494B-316C-DDB3-5858DB57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62332-8DF0-AB91-A465-31F7D228D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2222287"/>
            <a:ext cx="11225802" cy="4493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 err="1"/>
              <a:t>SmartCalc</a:t>
            </a:r>
            <a:r>
              <a:rPr lang="en-IN" sz="2000" dirty="0"/>
              <a:t> Pro integrates all essential calculation tools into a single platform.</a:t>
            </a:r>
          </a:p>
          <a:p>
            <a:pPr marL="0" indent="0">
              <a:buNone/>
            </a:pPr>
            <a:r>
              <a:rPr lang="en-IN" sz="2000" b="1" dirty="0">
                <a:highlight>
                  <a:srgbClr val="800080"/>
                </a:highlight>
              </a:rPr>
              <a:t>Key Benefits</a:t>
            </a:r>
          </a:p>
          <a:p>
            <a:pPr marL="0" indent="0">
              <a:buNone/>
            </a:pPr>
            <a:r>
              <a:rPr lang="en-IN" dirty="0"/>
              <a:t>✅ One Software</a:t>
            </a:r>
          </a:p>
          <a:p>
            <a:pPr marL="0" indent="0">
              <a:buNone/>
            </a:pPr>
            <a:r>
              <a:rPr lang="en-IN" dirty="0"/>
              <a:t>✅ Multiple Modules</a:t>
            </a:r>
          </a:p>
          <a:p>
            <a:pPr marL="0" indent="0">
              <a:buNone/>
            </a:pPr>
            <a:r>
              <a:rPr lang="en-IN" dirty="0"/>
              <a:t>✅ Easy Navigation</a:t>
            </a:r>
          </a:p>
          <a:p>
            <a:pPr marL="0" indent="0">
              <a:buNone/>
            </a:pPr>
            <a:r>
              <a:rPr lang="en-IN" dirty="0"/>
              <a:t>✅ Modern Interface</a:t>
            </a:r>
          </a:p>
          <a:p>
            <a:pPr marL="0" indent="0">
              <a:buNone/>
            </a:pPr>
            <a:r>
              <a:rPr lang="en-IN" dirty="0"/>
              <a:t>✅ Fast Computation</a:t>
            </a:r>
          </a:p>
          <a:p>
            <a:pPr marL="0" indent="0">
              <a:buNone/>
            </a:pPr>
            <a:r>
              <a:rPr lang="en-IN" dirty="0"/>
              <a:t>✅ User Friendly Design</a:t>
            </a:r>
          </a:p>
          <a:p>
            <a:pPr marL="0" indent="0">
              <a:buNone/>
            </a:pPr>
            <a:r>
              <a:rPr lang="en-IN" dirty="0"/>
              <a:t>This reduces complexity and improves productivity.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59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7010-E531-3BEF-43E1-9411A5DDD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F6283-A095-19B3-CFAD-E026F93CC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2222287"/>
            <a:ext cx="11088151" cy="4434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900" b="1" dirty="0"/>
              <a:t>Primary Objective</a:t>
            </a:r>
          </a:p>
          <a:p>
            <a:pPr marL="0" indent="0">
              <a:buNone/>
            </a:pPr>
            <a:r>
              <a:rPr lang="en-IN" dirty="0"/>
              <a:t>Develop a professional all-in-one calculator system.</a:t>
            </a:r>
          </a:p>
          <a:p>
            <a:pPr marL="0" indent="0">
              <a:buNone/>
            </a:pPr>
            <a:r>
              <a:rPr lang="en-IN" sz="1900" b="1" dirty="0"/>
              <a:t>Secondary Objectives</a:t>
            </a:r>
          </a:p>
          <a:p>
            <a:r>
              <a:rPr lang="en-IN" dirty="0"/>
              <a:t>Improve calculation efficiency </a:t>
            </a:r>
          </a:p>
          <a:p>
            <a:r>
              <a:rPr lang="en-IN" dirty="0"/>
              <a:t>Support scientific operations </a:t>
            </a:r>
          </a:p>
          <a:p>
            <a:r>
              <a:rPr lang="en-IN" dirty="0"/>
              <a:t>Provide financial calculations </a:t>
            </a:r>
          </a:p>
          <a:p>
            <a:r>
              <a:rPr lang="en-IN" dirty="0"/>
              <a:t>Assist programmers </a:t>
            </a:r>
          </a:p>
          <a:p>
            <a:r>
              <a:rPr lang="en-IN" dirty="0"/>
              <a:t>Perform statistical analysis </a:t>
            </a:r>
          </a:p>
          <a:p>
            <a:r>
              <a:rPr lang="en-IN" dirty="0"/>
              <a:t>Solve equations quickly </a:t>
            </a:r>
          </a:p>
          <a:p>
            <a:r>
              <a:rPr lang="en-IN" dirty="0"/>
              <a:t>Deliver modern user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900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27BF0-2ED6-AA8D-1757-8D406B4ED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09" y="117986"/>
            <a:ext cx="6902245" cy="664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7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F285-1AA9-91D6-859B-785A9302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151" y="639097"/>
            <a:ext cx="3380862" cy="1324368"/>
          </a:xfrm>
        </p:spPr>
        <p:txBody>
          <a:bodyPr/>
          <a:lstStyle/>
          <a:p>
            <a:r>
              <a:rPr lang="en-IN" sz="3200" dirty="0"/>
              <a:t>Standard Calculator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B635D-1210-838A-25B6-4BE79F49F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4179391"/>
          </a:xfrm>
        </p:spPr>
        <p:txBody>
          <a:bodyPr/>
          <a:lstStyle/>
          <a:p>
            <a:r>
              <a:rPr lang="en-IN" sz="1800" b="1" dirty="0"/>
              <a:t>Features</a:t>
            </a:r>
          </a:p>
          <a:p>
            <a:r>
              <a:rPr lang="en-IN" dirty="0"/>
              <a:t>Addition </a:t>
            </a:r>
          </a:p>
          <a:p>
            <a:r>
              <a:rPr lang="en-IN" dirty="0"/>
              <a:t>Subtraction </a:t>
            </a:r>
          </a:p>
          <a:p>
            <a:r>
              <a:rPr lang="en-IN" dirty="0"/>
              <a:t>Multiplication </a:t>
            </a:r>
          </a:p>
          <a:p>
            <a:r>
              <a:rPr lang="en-IN" dirty="0"/>
              <a:t>Division </a:t>
            </a:r>
          </a:p>
          <a:p>
            <a:r>
              <a:rPr lang="en-IN" dirty="0"/>
              <a:t>Decimal Operations </a:t>
            </a:r>
          </a:p>
          <a:p>
            <a:r>
              <a:rPr lang="en-IN" b="1" dirty="0"/>
              <a:t>Ad</a:t>
            </a:r>
            <a:r>
              <a:rPr lang="en-IN" sz="1800" b="1" dirty="0"/>
              <a:t>vantages</a:t>
            </a:r>
          </a:p>
          <a:p>
            <a:r>
              <a:rPr lang="en-IN" dirty="0"/>
              <a:t>Fast calculations </a:t>
            </a:r>
          </a:p>
          <a:p>
            <a:r>
              <a:rPr lang="en-IN" dirty="0"/>
              <a:t>Error handling </a:t>
            </a:r>
          </a:p>
          <a:p>
            <a:r>
              <a:rPr lang="en-IN" dirty="0"/>
              <a:t>Easy input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A1BEC9E-EDE5-E0C2-CD0D-2327D64EA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3" y="806245"/>
            <a:ext cx="6873721" cy="47489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7371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F04B-B689-530F-165D-4DC90139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Scientific Calculator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9A933-2BCF-9EA7-E3EF-3FB8DFF2A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3151" y="2320413"/>
            <a:ext cx="3547533" cy="4404852"/>
          </a:xfrm>
        </p:spPr>
        <p:txBody>
          <a:bodyPr>
            <a:normAutofit lnSpcReduction="10000"/>
          </a:bodyPr>
          <a:lstStyle/>
          <a:p>
            <a:r>
              <a:rPr lang="en-IN" sz="1900" b="1" dirty="0"/>
              <a:t>Available Functions</a:t>
            </a:r>
          </a:p>
          <a:p>
            <a:r>
              <a:rPr lang="en-IN" dirty="0"/>
              <a:t>Sin() </a:t>
            </a:r>
          </a:p>
          <a:p>
            <a:r>
              <a:rPr lang="en-IN" dirty="0"/>
              <a:t>Cos() </a:t>
            </a:r>
          </a:p>
          <a:p>
            <a:r>
              <a:rPr lang="en-IN" dirty="0"/>
              <a:t>Tan() </a:t>
            </a:r>
          </a:p>
          <a:p>
            <a:r>
              <a:rPr lang="en-IN" dirty="0"/>
              <a:t>Log() </a:t>
            </a:r>
          </a:p>
          <a:p>
            <a:r>
              <a:rPr lang="en-IN" dirty="0"/>
              <a:t>Square Root </a:t>
            </a:r>
          </a:p>
          <a:p>
            <a:r>
              <a:rPr lang="en-IN" dirty="0"/>
              <a:t>π Constant </a:t>
            </a:r>
          </a:p>
          <a:p>
            <a:r>
              <a:rPr lang="en-IN" dirty="0"/>
              <a:t>Euler Number (e) </a:t>
            </a:r>
          </a:p>
          <a:p>
            <a:r>
              <a:rPr lang="en-IN" sz="1900" b="1" dirty="0"/>
              <a:t>Applications</a:t>
            </a:r>
          </a:p>
          <a:p>
            <a:r>
              <a:rPr lang="en-IN" dirty="0"/>
              <a:t>Engineering </a:t>
            </a:r>
          </a:p>
          <a:p>
            <a:r>
              <a:rPr lang="en-IN" dirty="0"/>
              <a:t>Mathematics </a:t>
            </a:r>
          </a:p>
          <a:p>
            <a:r>
              <a:rPr lang="en-IN" dirty="0"/>
              <a:t>Physics </a:t>
            </a:r>
          </a:p>
          <a:p>
            <a:r>
              <a:rPr lang="en-IN" dirty="0"/>
              <a:t>Education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196D76-AA6D-0991-F263-CD665A208F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7471" y="446087"/>
            <a:ext cx="6636273" cy="563145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94494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6C4C-CADC-B04A-0190-707A3A67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Unit Converter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C1824-1445-58F3-B8A9-378B14116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4415365"/>
          </a:xfrm>
        </p:spPr>
        <p:txBody>
          <a:bodyPr>
            <a:normAutofit/>
          </a:bodyPr>
          <a:lstStyle/>
          <a:p>
            <a:r>
              <a:rPr lang="en-IN" sz="1800" b="1" dirty="0"/>
              <a:t>Current Feature</a:t>
            </a:r>
          </a:p>
          <a:p>
            <a:r>
              <a:rPr lang="en-IN" dirty="0"/>
              <a:t>Meters → </a:t>
            </a:r>
            <a:r>
              <a:rPr lang="en-IN" dirty="0" err="1"/>
              <a:t>Centimeters</a:t>
            </a:r>
            <a:endParaRPr lang="en-IN" dirty="0"/>
          </a:p>
          <a:p>
            <a:r>
              <a:rPr lang="en-IN" sz="1800" b="1" dirty="0"/>
              <a:t>Benefits</a:t>
            </a:r>
          </a:p>
          <a:p>
            <a:r>
              <a:rPr lang="en-IN" dirty="0"/>
              <a:t>Quick conversion </a:t>
            </a:r>
          </a:p>
          <a:p>
            <a:r>
              <a:rPr lang="en-IN" dirty="0"/>
              <a:t>Reduced manual errors </a:t>
            </a:r>
          </a:p>
          <a:p>
            <a:r>
              <a:rPr lang="en-IN" dirty="0"/>
              <a:t>Educational use </a:t>
            </a:r>
          </a:p>
          <a:p>
            <a:r>
              <a:rPr lang="en-IN" sz="1600" b="1" dirty="0"/>
              <a:t>Future Scope</a:t>
            </a:r>
          </a:p>
          <a:p>
            <a:r>
              <a:rPr lang="en-IN" dirty="0"/>
              <a:t>Length </a:t>
            </a:r>
          </a:p>
          <a:p>
            <a:r>
              <a:rPr lang="en-IN" dirty="0"/>
              <a:t>Weight </a:t>
            </a:r>
          </a:p>
          <a:p>
            <a:r>
              <a:rPr lang="en-IN" dirty="0"/>
              <a:t>Temperature </a:t>
            </a:r>
          </a:p>
          <a:p>
            <a:r>
              <a:rPr lang="en-IN" dirty="0"/>
              <a:t>Area </a:t>
            </a:r>
          </a:p>
          <a:p>
            <a:r>
              <a:rPr lang="en-IN" dirty="0"/>
              <a:t>Volume</a:t>
            </a:r>
          </a:p>
          <a:p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5CA85BC-86F3-F74B-93B9-A85330FCD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5123" y="285422"/>
            <a:ext cx="6469625" cy="617123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04588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1D798-A72B-14FF-405A-6BE7DD3B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Statistics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A2EB6E-E739-BBAF-C54F-5B5ED5F64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3734" y="2261419"/>
            <a:ext cx="3547533" cy="4395019"/>
          </a:xfrm>
        </p:spPr>
        <p:txBody>
          <a:bodyPr>
            <a:normAutofit fontScale="92500" lnSpcReduction="10000"/>
          </a:bodyPr>
          <a:lstStyle/>
          <a:p>
            <a:r>
              <a:rPr lang="en-IN" sz="1700" b="1" dirty="0"/>
              <a:t>Supported Operation</a:t>
            </a:r>
          </a:p>
          <a:p>
            <a:r>
              <a:rPr lang="en-IN" dirty="0"/>
              <a:t>Mean Calculation</a:t>
            </a:r>
          </a:p>
          <a:p>
            <a:r>
              <a:rPr lang="en-IN" sz="1700" b="1" dirty="0"/>
              <a:t>Process</a:t>
            </a:r>
          </a:p>
          <a:p>
            <a:r>
              <a:rPr lang="en-IN" dirty="0"/>
              <a:t>Input Numbers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Data Processing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Average Calculation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Result Generation</a:t>
            </a:r>
          </a:p>
          <a:p>
            <a:r>
              <a:rPr lang="en-IN" sz="1700" b="1" dirty="0"/>
              <a:t>Use Cases</a:t>
            </a:r>
          </a:p>
          <a:p>
            <a:r>
              <a:rPr lang="en-IN" dirty="0"/>
              <a:t>Data Analysis </a:t>
            </a:r>
          </a:p>
          <a:p>
            <a:r>
              <a:rPr lang="en-IN" dirty="0"/>
              <a:t>Academic Projects </a:t>
            </a:r>
          </a:p>
          <a:p>
            <a:r>
              <a:rPr lang="en-IN" dirty="0"/>
              <a:t>Business Reports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B8D7D0E-15BF-43E3-A205-02DD51026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8039" y="446088"/>
            <a:ext cx="6800320" cy="56400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19079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C243-E476-EBD2-493C-FF54072CE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Programmer Calculator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0FEC4E-9909-038B-0878-2C5ADA445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7471" y="446088"/>
            <a:ext cx="6978445" cy="5758067"/>
          </a:xfrm>
          <a:prstGeom prst="rect">
            <a:avLst/>
          </a:prstGeom>
          <a:effectLst/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400AE-9E56-87E5-9D79-434708188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4597262"/>
          </a:xfrm>
        </p:spPr>
        <p:txBody>
          <a:bodyPr/>
          <a:lstStyle/>
          <a:p>
            <a:r>
              <a:rPr lang="en-IN" sz="2000" b="1" dirty="0"/>
              <a:t>Binary Conversion System</a:t>
            </a:r>
          </a:p>
          <a:p>
            <a:r>
              <a:rPr lang="en-IN" sz="1800" b="1" dirty="0"/>
              <a:t>Functionality</a:t>
            </a:r>
          </a:p>
          <a:p>
            <a:r>
              <a:rPr lang="en-IN" dirty="0"/>
              <a:t>Decimal → Binary Conversion</a:t>
            </a:r>
          </a:p>
          <a:p>
            <a:r>
              <a:rPr lang="en-IN" sz="1800" b="1" dirty="0"/>
              <a:t>Benefits</a:t>
            </a:r>
          </a:p>
          <a:p>
            <a:r>
              <a:rPr lang="en-IN" dirty="0"/>
              <a:t>Useful for programmers </a:t>
            </a:r>
          </a:p>
          <a:p>
            <a:r>
              <a:rPr lang="en-IN" dirty="0"/>
              <a:t>Computer science learning </a:t>
            </a:r>
          </a:p>
          <a:p>
            <a:r>
              <a:rPr lang="en-IN" dirty="0"/>
              <a:t>Digital electronics </a:t>
            </a:r>
          </a:p>
          <a:p>
            <a:r>
              <a:rPr lang="en-IN" sz="1800" b="1" dirty="0"/>
              <a:t>Example</a:t>
            </a:r>
          </a:p>
          <a:p>
            <a:r>
              <a:rPr lang="en-IN" dirty="0"/>
              <a:t>25 → 11001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417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E537-BFE7-EA6E-85D0-D59A2976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Finance Calculator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EC1CD-621A-14CD-590B-908FD3666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4769327"/>
          </a:xfrm>
        </p:spPr>
        <p:txBody>
          <a:bodyPr>
            <a:normAutofit/>
          </a:bodyPr>
          <a:lstStyle/>
          <a:p>
            <a:r>
              <a:rPr lang="en-IN" sz="1800" b="1" dirty="0"/>
              <a:t>Calculates</a:t>
            </a:r>
          </a:p>
          <a:p>
            <a:r>
              <a:rPr lang="en-IN" dirty="0"/>
              <a:t>Simple Interest</a:t>
            </a:r>
          </a:p>
          <a:p>
            <a:r>
              <a:rPr lang="en-IN" sz="1800" b="1" dirty="0"/>
              <a:t>Formula</a:t>
            </a:r>
          </a:p>
          <a:p>
            <a:r>
              <a:rPr lang="en-IN" dirty="0"/>
              <a:t>SI = (P × R × T) / 100</a:t>
            </a:r>
          </a:p>
          <a:p>
            <a:r>
              <a:rPr lang="en-IN" dirty="0"/>
              <a:t>Where:</a:t>
            </a:r>
          </a:p>
          <a:p>
            <a:r>
              <a:rPr lang="en-IN" dirty="0"/>
              <a:t>P = Principal</a:t>
            </a:r>
          </a:p>
          <a:p>
            <a:r>
              <a:rPr lang="en-IN" dirty="0"/>
              <a:t>R = Rate</a:t>
            </a:r>
          </a:p>
          <a:p>
            <a:r>
              <a:rPr lang="en-IN" dirty="0"/>
              <a:t>T = Time</a:t>
            </a:r>
          </a:p>
          <a:p>
            <a:r>
              <a:rPr lang="en-IN" sz="1800" b="1" dirty="0"/>
              <a:t>Applications</a:t>
            </a:r>
          </a:p>
          <a:p>
            <a:r>
              <a:rPr lang="en-IN" dirty="0"/>
              <a:t>Banking </a:t>
            </a:r>
          </a:p>
          <a:p>
            <a:r>
              <a:rPr lang="en-IN" dirty="0"/>
              <a:t>Loans </a:t>
            </a:r>
          </a:p>
          <a:p>
            <a:r>
              <a:rPr lang="en-IN" dirty="0"/>
              <a:t>Investments </a:t>
            </a:r>
          </a:p>
          <a:p>
            <a:r>
              <a:rPr lang="en-IN" dirty="0"/>
              <a:t>Education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CD90D9C-7458-D2D6-3384-DCB7986BE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799" y="446088"/>
            <a:ext cx="6892413" cy="624875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43338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0DE52-A40B-642D-F32E-32D13054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/>
              <a:t>Equation Solver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B6E462-9181-7B28-322A-7BEAEC3D0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6291" y="450305"/>
            <a:ext cx="7145266" cy="6078313"/>
          </a:xfrm>
          <a:prstGeom prst="rect">
            <a:avLst/>
          </a:prstGeom>
          <a:effectLst/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3D769-D92B-B6AF-7B0E-79D163306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4484191"/>
          </a:xfrm>
        </p:spPr>
        <p:txBody>
          <a:bodyPr/>
          <a:lstStyle/>
          <a:p>
            <a:r>
              <a:rPr lang="en-IN" sz="1800" b="1" dirty="0"/>
              <a:t>Linear Equation Solver</a:t>
            </a:r>
          </a:p>
          <a:p>
            <a:r>
              <a:rPr lang="en-IN" sz="1600" b="1" dirty="0"/>
              <a:t>Supported Equation</a:t>
            </a:r>
          </a:p>
          <a:p>
            <a:r>
              <a:rPr lang="en-IN" dirty="0" err="1"/>
              <a:t>ax</a:t>
            </a:r>
            <a:r>
              <a:rPr lang="en-IN" dirty="0"/>
              <a:t> + b = 0</a:t>
            </a:r>
          </a:p>
          <a:p>
            <a:r>
              <a:rPr lang="en-IN" sz="1800" b="1" dirty="0"/>
              <a:t>Solution Formula</a:t>
            </a:r>
          </a:p>
          <a:p>
            <a:r>
              <a:rPr lang="en-IN" dirty="0"/>
              <a:t>x = -b/a</a:t>
            </a:r>
          </a:p>
          <a:p>
            <a:r>
              <a:rPr lang="en-IN" sz="1800" b="1" dirty="0"/>
              <a:t>Advantages</a:t>
            </a:r>
          </a:p>
          <a:p>
            <a:r>
              <a:rPr lang="en-IN" dirty="0"/>
              <a:t>Fast solution </a:t>
            </a:r>
          </a:p>
          <a:p>
            <a:r>
              <a:rPr lang="en-IN" dirty="0"/>
              <a:t>Accurate output </a:t>
            </a:r>
          </a:p>
          <a:p>
            <a:r>
              <a:rPr lang="en-IN" dirty="0"/>
              <a:t>Educational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299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D0DC-836E-6B6B-5371-79E590CC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561" y="304801"/>
            <a:ext cx="11755626" cy="983226"/>
          </a:xfrm>
        </p:spPr>
        <p:txBody>
          <a:bodyPr/>
          <a:lstStyle/>
          <a:p>
            <a:r>
              <a:rPr lang="en-IN" sz="3600" dirty="0"/>
              <a:t>Why </a:t>
            </a:r>
            <a:r>
              <a:rPr lang="en-IN" sz="3600" dirty="0" err="1"/>
              <a:t>SmartCalc</a:t>
            </a:r>
            <a:r>
              <a:rPr lang="en-IN" sz="3600" dirty="0"/>
              <a:t> Pro is Better Than Other Calculators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1A09C3-4DE5-8B49-24C2-F296E3AEB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6588683"/>
              </p:ext>
            </p:extLst>
          </p:nvPr>
        </p:nvGraphicFramePr>
        <p:xfrm>
          <a:off x="819150" y="2395430"/>
          <a:ext cx="10553700" cy="3291102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1390322092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1120126535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558114383"/>
                    </a:ext>
                  </a:extLst>
                </a:gridCol>
              </a:tblGrid>
              <a:tr h="36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Feature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Normal Calculator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SmartCalc Pro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620806"/>
                  </a:ext>
                </a:extLst>
              </a:tr>
              <a:tr h="36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Basic Operations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858282"/>
                  </a:ext>
                </a:extLst>
              </a:tr>
              <a:tr h="36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Scientific Functions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❌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67633"/>
                  </a:ext>
                </a:extLst>
              </a:tr>
              <a:tr h="36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Statistics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❌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40722"/>
                  </a:ext>
                </a:extLst>
              </a:tr>
              <a:tr h="36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Finance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❌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648696"/>
                  </a:ext>
                </a:extLst>
              </a:tr>
              <a:tr h="36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Programmer Mode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❌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48124"/>
                  </a:ext>
                </a:extLst>
              </a:tr>
              <a:tr h="36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Equation Solver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❌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847163"/>
                  </a:ext>
                </a:extLst>
              </a:tr>
              <a:tr h="36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Modern GUI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❌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54520"/>
                  </a:ext>
                </a:extLst>
              </a:tr>
              <a:tr h="365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Dark Mode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>
                          <a:effectLst/>
                        </a:rPr>
                        <a:t>❌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strike="noStrike" dirty="0">
                          <a:solidFill>
                            <a:srgbClr val="00B050"/>
                          </a:solidFill>
                          <a:effectLst/>
                        </a:rPr>
                        <a:t>✔</a:t>
                      </a:r>
                    </a:p>
                  </a:txBody>
                  <a:tcPr marL="91358" marR="91358" marT="45679" marB="45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001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291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E7B6-7068-5708-6B1C-8CA048EF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600" dirty="0"/>
              <a:t>Unique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96D5-5363-9276-A381-F380A552A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399071"/>
            <a:ext cx="10554574" cy="43851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>
                <a:solidFill>
                  <a:srgbClr val="FFFF00"/>
                </a:solidFill>
              </a:rPr>
              <a:t>What Makes It Different?</a:t>
            </a:r>
          </a:p>
          <a:p>
            <a:pPr marL="0" indent="0">
              <a:buNone/>
            </a:pPr>
            <a:r>
              <a:rPr lang="en-IN" sz="19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Multi-Module Architecture</a:t>
            </a:r>
          </a:p>
          <a:p>
            <a:pPr marL="0" indent="0">
              <a:buNone/>
            </a:pPr>
            <a:r>
              <a:rPr lang="en-IN" dirty="0"/>
              <a:t>One application for multiple purposes.</a:t>
            </a:r>
          </a:p>
          <a:p>
            <a:pPr marL="0" indent="0">
              <a:buNone/>
            </a:pPr>
            <a:r>
              <a:rPr lang="en-IN" sz="2100" b="1" dirty="0"/>
              <a:t>Professional Dashboard</a:t>
            </a:r>
          </a:p>
          <a:p>
            <a:pPr marL="0" indent="0">
              <a:buNone/>
            </a:pPr>
            <a:r>
              <a:rPr lang="en-IN" dirty="0"/>
              <a:t>Sidebar navigation for quick access.</a:t>
            </a:r>
          </a:p>
          <a:p>
            <a:pPr marL="0" indent="0">
              <a:buNone/>
            </a:pPr>
            <a:r>
              <a:rPr lang="en-IN" sz="2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Dark Mode Support</a:t>
            </a:r>
          </a:p>
          <a:p>
            <a:pPr marL="0" indent="0">
              <a:buNone/>
            </a:pPr>
            <a:r>
              <a:rPr lang="en-IN" dirty="0"/>
              <a:t>Modern user experience.</a:t>
            </a:r>
          </a:p>
          <a:p>
            <a:pPr marL="0" indent="0">
              <a:buNone/>
            </a:pPr>
            <a:r>
              <a:rPr lang="en-IN" sz="21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Object-Oriented Design</a:t>
            </a:r>
          </a:p>
          <a:p>
            <a:pPr marL="0" indent="0">
              <a:buNone/>
            </a:pPr>
            <a:r>
              <a:rPr lang="en-IN" dirty="0"/>
              <a:t>Clean and scalable architecture.</a:t>
            </a:r>
          </a:p>
          <a:p>
            <a:pPr marL="0" indent="0">
              <a:buNone/>
            </a:pPr>
            <a:r>
              <a:rPr lang="en-IN" sz="2100" b="1" dirty="0">
                <a:solidFill>
                  <a:schemeClr val="accent6">
                    <a:lumMod val="75000"/>
                  </a:schemeClr>
                </a:solidFill>
              </a:rPr>
              <a:t>Expandable Framework</a:t>
            </a:r>
          </a:p>
          <a:p>
            <a:pPr marL="0" indent="0">
              <a:buNone/>
            </a:pPr>
            <a:r>
              <a:rPr lang="en-IN" dirty="0"/>
              <a:t>New modules can easily be added.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276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7B7BE-D39D-F463-E53C-A3D88D4C5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E734A-FF57-8823-ED71-15588AA4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6357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900" dirty="0" err="1"/>
              <a:t>SmartCalc</a:t>
            </a:r>
            <a:r>
              <a:rPr lang="en-IN" sz="1900" dirty="0"/>
              <a:t> Pro successfully demonstrates the development of a modern multi-functional calculator using Python and </a:t>
            </a:r>
            <a:r>
              <a:rPr lang="en-IN" sz="1900" dirty="0" err="1"/>
              <a:t>Tkinter</a:t>
            </a:r>
            <a:r>
              <a:rPr lang="en-IN" sz="1900" dirty="0"/>
              <a:t>.</a:t>
            </a:r>
          </a:p>
          <a:p>
            <a:pPr marL="0" indent="0">
              <a:buNone/>
            </a:pPr>
            <a:r>
              <a:rPr lang="en-IN" sz="2100" b="1" dirty="0">
                <a:solidFill>
                  <a:srgbClr val="92D050"/>
                </a:solidFill>
              </a:rPr>
              <a:t>Achievements</a:t>
            </a:r>
          </a:p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✔</a:t>
            </a:r>
            <a:r>
              <a:rPr lang="en-IN" dirty="0"/>
              <a:t> Professional Interface</a:t>
            </a:r>
          </a:p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✔</a:t>
            </a:r>
            <a:r>
              <a:rPr lang="en-IN" dirty="0"/>
              <a:t> Multiple Calculation Modules</a:t>
            </a:r>
          </a:p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✔</a:t>
            </a:r>
            <a:r>
              <a:rPr lang="en-IN" dirty="0"/>
              <a:t> High Accuracy</a:t>
            </a:r>
          </a:p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✔</a:t>
            </a:r>
            <a:r>
              <a:rPr lang="en-IN" dirty="0"/>
              <a:t> Easy Navigation</a:t>
            </a:r>
          </a:p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✔</a:t>
            </a:r>
            <a:r>
              <a:rPr lang="en-IN" dirty="0"/>
              <a:t> Expandable Design</a:t>
            </a:r>
          </a:p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✔</a:t>
            </a:r>
            <a:r>
              <a:rPr lang="en-IN" dirty="0"/>
              <a:t> Real-World Applications</a:t>
            </a:r>
          </a:p>
          <a:p>
            <a:pPr marL="0" indent="0">
              <a:buNone/>
            </a:pPr>
            <a:r>
              <a:rPr lang="en-IN" sz="2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Final Statement</a:t>
            </a:r>
          </a:p>
          <a:p>
            <a:pPr marL="0" indent="0">
              <a:buNone/>
            </a:pPr>
            <a:r>
              <a:rPr lang="en-IN" sz="1900" dirty="0"/>
              <a:t>"</a:t>
            </a:r>
            <a:r>
              <a:rPr lang="en-IN" sz="1900" dirty="0" err="1"/>
              <a:t>SmartCalc</a:t>
            </a:r>
            <a:r>
              <a:rPr lang="en-IN" sz="1900" dirty="0"/>
              <a:t> Pro is not just a calculator; it is a complete mathematical, financial, and analytical solution designed to improve productivity and simplify complex calculations."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852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CA81-A5E6-5C25-4091-2E290C8A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880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C81B7-391D-1A05-CEAD-F2BD29C94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1257251"/>
          </a:xfrm>
        </p:spPr>
        <p:txBody>
          <a:bodyPr/>
          <a:lstStyle/>
          <a:p>
            <a:r>
              <a:rPr lang="en-IN" sz="3200" b="1" dirty="0"/>
              <a:t>Presented By</a:t>
            </a:r>
            <a:br>
              <a:rPr lang="en-IN" sz="3200" dirty="0"/>
            </a:br>
            <a:r>
              <a:rPr lang="en-IN" sz="3200" dirty="0"/>
              <a:t>Deepak Rajput</a:t>
            </a:r>
          </a:p>
        </p:txBody>
      </p:sp>
    </p:spTree>
    <p:extLst>
      <p:ext uri="{BB962C8B-B14F-4D97-AF65-F5344CB8AC3E}">
        <p14:creationId xmlns:p14="http://schemas.microsoft.com/office/powerpoint/2010/main" val="2361553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{A4866055-219C-4EED-87A1-371739CC68BA}TF422d6a94-b412-4b4b-8b36-ccdb9da8dac8d8130915_win32-3b4bd71c511d</Template>
  <TotalTime>86</TotalTime>
  <Words>539</Words>
  <Application>Microsoft Office PowerPoint</Application>
  <PresentationFormat>Widescreen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2</vt:lpstr>
      <vt:lpstr>Quotable_win32_v2</vt:lpstr>
      <vt:lpstr>SMARTCALC PRO</vt:lpstr>
      <vt:lpstr>Introduction</vt:lpstr>
      <vt:lpstr>Problem Statement</vt:lpstr>
      <vt:lpstr>Proposed Solution</vt:lpstr>
      <vt:lpstr>Objectives</vt:lpstr>
      <vt:lpstr>PowerPoint Presentation</vt:lpstr>
      <vt:lpstr>Standard Calculator Module</vt:lpstr>
      <vt:lpstr>Scientific Calculator Module</vt:lpstr>
      <vt:lpstr>Unit Converter Module</vt:lpstr>
      <vt:lpstr>Statistics Module</vt:lpstr>
      <vt:lpstr>Programmer Calculator</vt:lpstr>
      <vt:lpstr>Finance Calculator</vt:lpstr>
      <vt:lpstr>Equation Solver</vt:lpstr>
      <vt:lpstr>Why SmartCalc Pro is Better Than Other Calculators</vt:lpstr>
      <vt:lpstr>Unique Features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aartikinjal6@outlook.com</dc:creator>
  <cp:lastModifiedBy>aartikinjal6@outlook.com</cp:lastModifiedBy>
  <cp:revision>1</cp:revision>
  <dcterms:created xsi:type="dcterms:W3CDTF">2026-06-21T18:25:42Z</dcterms:created>
  <dcterms:modified xsi:type="dcterms:W3CDTF">2026-06-21T19:51:49Z</dcterms:modified>
</cp:coreProperties>
</file>